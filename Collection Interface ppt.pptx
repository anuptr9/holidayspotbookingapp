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9" r:id="rId9"/>
    <p:sldId id="267" r:id="rId10"/>
    <p:sldId id="268" r:id="rId11"/>
    <p:sldId id="270" r:id="rId12"/>
    <p:sldId id="262" r:id="rId13"/>
    <p:sldId id="264" r:id="rId14"/>
    <p:sldId id="271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189" autoAdjust="0"/>
    <p:restoredTop sz="94660"/>
  </p:normalViewPr>
  <p:slideViewPr>
    <p:cSldViewPr snapToGrid="0">
      <p:cViewPr varScale="1">
        <p:scale>
          <a:sx n="67" d="100"/>
          <a:sy n="67" d="100"/>
        </p:scale>
        <p:origin x="56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D4835A-2FE2-4159-BE8C-49B08524FD3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AB5AF2E-E200-4429-8D25-8DEF9D6F70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B01404-BB2D-4F35-B9E5-5AAB914C6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F64C3C-8891-44F7-A676-E8A5F78AC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C9D878-6D3B-4E14-801C-010871A1C2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615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AB5F8-BD1D-45E2-9443-961384F23C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0981B1-9317-4022-A649-989C9641D9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3A93BB-6368-4626-8B96-9DE4C0BA82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F393F-C934-44AC-AC15-C050F7BC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6F70371-38DB-4B5C-8C92-0F0211037D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53198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09B59C-33D2-48E1-95C7-C292E160A7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34DED5-DAA4-4A4A-B1FB-D4DB6D68BD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E3499D-FD9F-410B-A7A5-9B11B5836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7F2038-128E-4A2C-B575-3184CF60F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315C0-3A2F-4592-AC63-7B26901E4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51984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ACDCEC-194E-42BE-A32A-FC2096E6F3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967F1-85C6-4E63-9E3F-09BB206B8D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A481A4E-B4EB-4F34-AEAF-A9DDC5C2BB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92F5B2-1BA2-4CC5-B7BB-FE7E492360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C49976-C75B-4E8F-8879-3CA7405B7C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A17CE5-7911-418F-B3B0-D4DF765C55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562312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46F690-B3DB-4A4A-B558-89BAAC311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ACB7B5-CAAE-4CCE-9542-A917254D55C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3374BA-04FC-4F8B-8F36-6821C4E1F02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FAE24E-E229-4849-8B0A-FD792E90215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90DB5C5-3635-4D5D-AD58-F9C106BD3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334CA29-22AF-4C15-BFA4-F09AE8DF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3A1562-FDA3-4FF0-B816-BBD0538B2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6D1A9-9DF1-4A68-B79A-BE8211384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69202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D6248B-6809-4957-A278-1F7E75560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637F130-1306-4D23-9DC5-47A42655D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36ADB25-7818-4324-AE36-A96C2D3C5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40E18BF-28B4-435B-90BB-4CC226EC2E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90033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CD1C4D2-5217-47CB-96A8-08B36BB017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7317210-BF06-4234-9A72-37F4F1593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2FEDF0-FAD5-4417-B915-76D76E9CB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8342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ECDDA-2046-4A41-BC0F-6930BC8724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6BE0E6-B1F8-4576-8398-69DB82A8738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5AD331-B448-4D56-BE96-F29492E8E3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DEB2A5-EFC0-4693-B75B-BF3FC42CE2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451220-B14D-489D-8BAE-CC4684E746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3E4C4-8226-440A-862A-C138CD19B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5330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EC7FC2-8C49-4B6F-953A-0669189C43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5073BE7-39E8-4ED2-B369-9F9644E08C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E8F453-034E-4B53-8145-05041047BDD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EB6447-DC7E-43AB-9B21-178C2A1F9E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1F57B56-B083-404F-9AEC-49C217BB42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F66663-69A9-4BED-A515-189371453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20096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D90C-9F19-4579-9AE3-C885DDE3C5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A9A951A-1EFA-436F-8567-6E00C26CD2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85282B-49B3-43F7-8C6E-D35AC44882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C714E9-1A88-48B4-A1BA-423AA93F62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0F9F21-7509-45CB-8F2A-88AAC6C1C7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38696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08F76F5-6038-4754-A036-4D725A7BD2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04F5EBC-2BE5-441F-89A1-5C9A7BCBEB1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20BAF9-A926-4A8C-8627-30FA264704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801BDC-D226-4A0D-9F97-29B4F948E4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2C933-3E79-4D3B-95B0-EA96B3F6C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1713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8E76B-03A6-47A5-B320-D2B2A6E0B5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8A401B-4B16-4CA7-A17A-9CBD6074CE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7880D9-9875-40A1-8C9E-D71BA969481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DD7ECE-3D01-4BBB-BCA0-B30B88F9CD47}" type="datetimeFigureOut">
              <a:rPr lang="en-IN" smtClean="0"/>
              <a:t>15-04-2022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BCD405-7E35-41CB-8F18-F3B30CA913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43334A-8E57-46A5-ADF2-1DEFC24134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6E2DA1-C624-49B6-9522-A78A5790BC3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82491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CF287D-5DCC-4696-AC20-7DEF943402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00175" y="160338"/>
            <a:ext cx="9144000" cy="2135187"/>
          </a:xfrm>
        </p:spPr>
        <p:txBody>
          <a:bodyPr/>
          <a:lstStyle/>
          <a:p>
            <a:r>
              <a:rPr lang="en-IN" dirty="0"/>
              <a:t>Topic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3A8F0B6-2AA8-4D25-8852-AFB7E4E5C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601119"/>
            <a:ext cx="9144000" cy="1655762"/>
          </a:xfrm>
        </p:spPr>
        <p:txBody>
          <a:bodyPr>
            <a:normAutofit/>
          </a:bodyPr>
          <a:lstStyle/>
          <a:p>
            <a:r>
              <a:rPr lang="en-IN" sz="3200" b="1" dirty="0"/>
              <a:t>Explain Collection interface and its basic methods,</a:t>
            </a:r>
          </a:p>
          <a:p>
            <a:r>
              <a:rPr lang="en-IN" sz="3200" b="1" dirty="0"/>
              <a:t>Explain List Interface and its basic methods</a:t>
            </a:r>
          </a:p>
        </p:txBody>
      </p:sp>
    </p:spTree>
    <p:extLst>
      <p:ext uri="{BB962C8B-B14F-4D97-AF65-F5344CB8AC3E}">
        <p14:creationId xmlns:p14="http://schemas.microsoft.com/office/powerpoint/2010/main" val="37427549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209748-8525-473F-A818-37BA70E6E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Collection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1E962C-5447-4FB4-9C62-FB7C2A55A7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Collection framework is a </a:t>
            </a:r>
            <a:r>
              <a:rPr lang="en-IN" b="1" dirty="0"/>
              <a:t>class library used to handle group of objects</a:t>
            </a:r>
            <a:r>
              <a:rPr lang="en-IN" dirty="0"/>
              <a:t>.</a:t>
            </a:r>
          </a:p>
          <a:p>
            <a:r>
              <a:rPr lang="en-IN" dirty="0"/>
              <a:t>Collection framework is </a:t>
            </a:r>
            <a:r>
              <a:rPr lang="en-IN" b="1" dirty="0"/>
              <a:t>implemented in </a:t>
            </a:r>
            <a:r>
              <a:rPr lang="en-IN" b="1" dirty="0" err="1"/>
              <a:t>java.util</a:t>
            </a:r>
            <a:r>
              <a:rPr lang="en-IN" b="1" dirty="0"/>
              <a:t> package</a:t>
            </a:r>
            <a:r>
              <a:rPr lang="en-IN" dirty="0"/>
              <a:t>.</a:t>
            </a:r>
          </a:p>
          <a:p>
            <a:r>
              <a:rPr lang="en-IN" dirty="0"/>
              <a:t>A collection object doesn’t stores the physical copies of other objects but it </a:t>
            </a:r>
            <a:r>
              <a:rPr lang="en-IN" b="1" dirty="0"/>
              <a:t>stores the references of other objects</a:t>
            </a:r>
            <a:r>
              <a:rPr lang="en-IN" dirty="0"/>
              <a:t>.</a:t>
            </a:r>
          </a:p>
          <a:p>
            <a:r>
              <a:rPr lang="en-IN" dirty="0"/>
              <a:t>If we want </a:t>
            </a:r>
            <a:r>
              <a:rPr lang="en-IN" b="1" dirty="0"/>
              <a:t>to represent a group of individual objects as a single entity </a:t>
            </a:r>
            <a:r>
              <a:rPr lang="en-IN" dirty="0"/>
              <a:t>then we should go for collection.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3275241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F6360F-A055-40C6-98F6-FF8EA5673A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6999"/>
            <a:ext cx="10515600" cy="818223"/>
          </a:xfrm>
        </p:spPr>
        <p:txBody>
          <a:bodyPr>
            <a:noAutofit/>
          </a:bodyPr>
          <a:lstStyle/>
          <a:p>
            <a:r>
              <a:rPr lang="en-IN" sz="3600" b="1" dirty="0"/>
              <a:t>Collection Interface and Its Sub Interface(Hierarchy)</a:t>
            </a:r>
          </a:p>
        </p:txBody>
      </p:sp>
      <p:pic>
        <p:nvPicPr>
          <p:cNvPr id="9" name="Content Placeholder 8" descr="Graphical user interface&#10;&#10;Description automatically generated">
            <a:extLst>
              <a:ext uri="{FF2B5EF4-FFF2-40B4-BE49-F238E27FC236}">
                <a16:creationId xmlns:a16="http://schemas.microsoft.com/office/drawing/2014/main" id="{46A51C6B-AA2D-494E-ABDC-C85C96EA51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6867" y="945222"/>
            <a:ext cx="10685124" cy="5630239"/>
          </a:xfrm>
        </p:spPr>
      </p:pic>
    </p:spTree>
    <p:extLst>
      <p:ext uri="{BB962C8B-B14F-4D97-AF65-F5344CB8AC3E}">
        <p14:creationId xmlns:p14="http://schemas.microsoft.com/office/powerpoint/2010/main" val="31146168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E55DD-9E1F-4997-B8F1-490E6B4324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770561"/>
          </a:xfrm>
        </p:spPr>
        <p:txBody>
          <a:bodyPr>
            <a:noAutofit/>
          </a:bodyPr>
          <a:lstStyle/>
          <a:p>
            <a:r>
              <a:rPr lang="en-IN" sz="3600" b="1" dirty="0"/>
              <a:t>Methods Of Collection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CA2EF1-6A6E-4391-BCDF-7C6F4AFD15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6750" y="1343025"/>
            <a:ext cx="10515600" cy="5276850"/>
          </a:xfrm>
        </p:spPr>
        <p:txBody>
          <a:bodyPr>
            <a:normAutofit fontScale="47500" lnSpcReduction="20000"/>
          </a:bodyPr>
          <a:lstStyle/>
          <a:p>
            <a:r>
              <a:rPr lang="en-IN" sz="5900" b="1" dirty="0"/>
              <a:t>Boolean </a:t>
            </a:r>
            <a:r>
              <a:rPr lang="en-IN" sz="5900" b="1" dirty="0" err="1"/>
              <a:t>addAll</a:t>
            </a:r>
            <a:r>
              <a:rPr lang="en-IN" sz="5900" b="1" dirty="0"/>
              <a:t>(Collection&lt;? extends E&gt; c) </a:t>
            </a:r>
            <a:r>
              <a:rPr lang="en-IN" sz="5900" dirty="0"/>
              <a:t>- Adds all of the elements in the specified collection to this collection (optional operation).</a:t>
            </a:r>
          </a:p>
          <a:p>
            <a:r>
              <a:rPr lang="en-IN" sz="5900" b="1" dirty="0"/>
              <a:t>void clear()</a:t>
            </a:r>
            <a:r>
              <a:rPr lang="en-IN" sz="5900" dirty="0"/>
              <a:t> - Removes all of the elements from this collection (optional operation).</a:t>
            </a:r>
          </a:p>
          <a:p>
            <a:r>
              <a:rPr lang="en-IN" sz="5900" b="1" dirty="0" err="1"/>
              <a:t>boolean</a:t>
            </a:r>
            <a:r>
              <a:rPr lang="en-IN" sz="5900" b="1" dirty="0"/>
              <a:t> contains(Object o) </a:t>
            </a:r>
            <a:r>
              <a:rPr lang="en-IN" sz="5900" dirty="0"/>
              <a:t>- Returns true if this collection contains the specified element.</a:t>
            </a:r>
          </a:p>
          <a:p>
            <a:r>
              <a:rPr lang="en-IN" sz="5900" b="1" dirty="0"/>
              <a:t>Boolean </a:t>
            </a:r>
            <a:r>
              <a:rPr lang="en-IN" sz="5900" b="1" dirty="0" err="1"/>
              <a:t>containsAll</a:t>
            </a:r>
            <a:r>
              <a:rPr lang="en-IN" sz="5900" b="1" dirty="0"/>
              <a:t>(Collection&lt;?&gt; c) </a:t>
            </a:r>
            <a:r>
              <a:rPr lang="en-IN" sz="5900" dirty="0"/>
              <a:t>- Returns true if this collection contains all of the elements in the specified collection.</a:t>
            </a:r>
          </a:p>
          <a:p>
            <a:r>
              <a:rPr lang="en-IN" sz="5900" b="1" dirty="0"/>
              <a:t>Boolean equals(Object o) </a:t>
            </a:r>
            <a:r>
              <a:rPr lang="en-IN" sz="5900" dirty="0"/>
              <a:t>- Compares the specified object with this collection for equality.</a:t>
            </a:r>
          </a:p>
          <a:p>
            <a:r>
              <a:rPr lang="en-IN" sz="5900" b="1" dirty="0"/>
              <a:t>Int </a:t>
            </a:r>
            <a:r>
              <a:rPr lang="en-IN" sz="5900" b="1" dirty="0" err="1"/>
              <a:t>hashCode</a:t>
            </a:r>
            <a:r>
              <a:rPr lang="en-IN" sz="5900" b="1" dirty="0"/>
              <a:t>() </a:t>
            </a:r>
            <a:r>
              <a:rPr lang="en-IN" sz="5900" dirty="0"/>
              <a:t>- Returns the hash code value for this collection.</a:t>
            </a:r>
          </a:p>
          <a:p>
            <a:endParaRPr lang="en-IN" sz="128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79744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9FBDF8-4D8B-4E3A-8147-370F88E2D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5725" y="190500"/>
            <a:ext cx="11782425" cy="6553200"/>
          </a:xfrm>
        </p:spPr>
        <p:txBody>
          <a:bodyPr>
            <a:noAutofit/>
          </a:bodyPr>
          <a:lstStyle/>
          <a:p>
            <a:r>
              <a:rPr lang="en-IN" sz="2000" b="1" dirty="0"/>
              <a:t>Boolean </a:t>
            </a:r>
            <a:r>
              <a:rPr lang="en-IN" sz="2000" b="1" dirty="0" err="1"/>
              <a:t>isEmpty</a:t>
            </a:r>
            <a:r>
              <a:rPr lang="en-IN" sz="2000" b="1" dirty="0"/>
              <a:t>()</a:t>
            </a:r>
            <a:r>
              <a:rPr lang="en-IN" sz="2000" dirty="0"/>
              <a:t> - Returns true if this collection contains no elements.</a:t>
            </a:r>
          </a:p>
          <a:p>
            <a:r>
              <a:rPr lang="en-IN" sz="2000" b="1" dirty="0"/>
              <a:t>Iterator&lt;E&gt; iterator()</a:t>
            </a:r>
            <a:r>
              <a:rPr lang="en-IN" sz="2000" dirty="0"/>
              <a:t> - Returns an iterator over the elements in this collection.</a:t>
            </a:r>
          </a:p>
          <a:p>
            <a:r>
              <a:rPr lang="en-IN" sz="2000" b="1" dirty="0"/>
              <a:t>default Stream&lt;E&gt; </a:t>
            </a:r>
            <a:r>
              <a:rPr lang="en-IN" sz="2000" b="1" dirty="0" err="1"/>
              <a:t>parallelStream</a:t>
            </a:r>
            <a:r>
              <a:rPr lang="en-IN" sz="2000" b="1" dirty="0"/>
              <a:t>() </a:t>
            </a:r>
            <a:r>
              <a:rPr lang="en-IN" sz="2000" dirty="0"/>
              <a:t>- Returns a possibly parallel Stream with this collection as its source.</a:t>
            </a:r>
          </a:p>
          <a:p>
            <a:r>
              <a:rPr lang="en-IN" sz="2000" b="1" dirty="0"/>
              <a:t>Boolean remove(Object o) </a:t>
            </a:r>
            <a:r>
              <a:rPr lang="en-IN" sz="2000" dirty="0"/>
              <a:t>- Removes a single instance of the specified element from this collection, if it is present (optional operation).</a:t>
            </a:r>
          </a:p>
          <a:p>
            <a:r>
              <a:rPr lang="en-IN" sz="2000" b="1" dirty="0"/>
              <a:t>Boolean </a:t>
            </a:r>
            <a:r>
              <a:rPr lang="en-IN" sz="2000" b="1" dirty="0" err="1"/>
              <a:t>removeAll</a:t>
            </a:r>
            <a:r>
              <a:rPr lang="en-IN" sz="2000" b="1" dirty="0"/>
              <a:t>(Collection&lt;?&gt; c) </a:t>
            </a:r>
            <a:r>
              <a:rPr lang="en-IN" sz="2000" dirty="0"/>
              <a:t>- Removes all of this collection's elements that are also contained in the specified collection (optional operation).</a:t>
            </a:r>
          </a:p>
          <a:p>
            <a:r>
              <a:rPr lang="en-IN" sz="2000" b="1" dirty="0"/>
              <a:t>default Boolean </a:t>
            </a:r>
            <a:r>
              <a:rPr lang="en-IN" sz="2000" b="1" dirty="0" err="1"/>
              <a:t>removeIf</a:t>
            </a:r>
            <a:r>
              <a:rPr lang="en-IN" sz="2000" b="1" dirty="0"/>
              <a:t>(Predicate&lt;? super E&gt; filter) </a:t>
            </a:r>
            <a:r>
              <a:rPr lang="en-IN" sz="2000" dirty="0"/>
              <a:t>- Removes all of the elements of this collection that satisfy the given predicate.</a:t>
            </a:r>
          </a:p>
          <a:p>
            <a:r>
              <a:rPr lang="en-IN" sz="2000" b="1" dirty="0"/>
              <a:t>Boolean </a:t>
            </a:r>
            <a:r>
              <a:rPr lang="en-IN" sz="2000" b="1" dirty="0" err="1"/>
              <a:t>retainAll</a:t>
            </a:r>
            <a:r>
              <a:rPr lang="en-IN" sz="2000" b="1" dirty="0"/>
              <a:t>(Collection&lt;?&gt; c) </a:t>
            </a:r>
            <a:r>
              <a:rPr lang="en-IN" sz="2000" dirty="0"/>
              <a:t>- Retains only the elements in this collection that are contained in the specified collection (optional operation).</a:t>
            </a:r>
          </a:p>
          <a:p>
            <a:r>
              <a:rPr lang="en-IN" sz="2000" b="1" dirty="0"/>
              <a:t>Int size()</a:t>
            </a:r>
            <a:r>
              <a:rPr lang="en-IN" sz="2000" dirty="0"/>
              <a:t> - Returns the number of elements in this collection.</a:t>
            </a:r>
          </a:p>
          <a:p>
            <a:r>
              <a:rPr lang="en-IN" sz="2000" b="1" dirty="0"/>
              <a:t>default </a:t>
            </a:r>
            <a:r>
              <a:rPr lang="en-IN" sz="2000" b="1" dirty="0" err="1"/>
              <a:t>Spliterator</a:t>
            </a:r>
            <a:r>
              <a:rPr lang="en-IN" sz="2000" b="1" dirty="0"/>
              <a:t>&lt;E&gt; </a:t>
            </a:r>
            <a:r>
              <a:rPr lang="en-IN" sz="2000" b="1" dirty="0" err="1"/>
              <a:t>spliterator</a:t>
            </a:r>
            <a:r>
              <a:rPr lang="en-IN" sz="2000" b="1" dirty="0"/>
              <a:t>() </a:t>
            </a:r>
            <a:r>
              <a:rPr lang="en-IN" sz="2000" dirty="0"/>
              <a:t>- Creates a </a:t>
            </a:r>
            <a:r>
              <a:rPr lang="en-IN" sz="2000" dirty="0" err="1"/>
              <a:t>Spliterator</a:t>
            </a:r>
            <a:r>
              <a:rPr lang="en-IN" sz="2000" dirty="0"/>
              <a:t> over the elements in this collection.</a:t>
            </a:r>
          </a:p>
          <a:p>
            <a:r>
              <a:rPr lang="en-IN" sz="2000" b="1" dirty="0"/>
              <a:t>default Stream&lt;E&gt; stream() </a:t>
            </a:r>
            <a:r>
              <a:rPr lang="en-IN" sz="2000" dirty="0"/>
              <a:t>- Returns a sequential Stream with this collection as its source.</a:t>
            </a:r>
          </a:p>
          <a:p>
            <a:r>
              <a:rPr lang="en-IN" sz="2000" b="1" dirty="0"/>
              <a:t>Object[] </a:t>
            </a:r>
            <a:r>
              <a:rPr lang="en-IN" sz="2000" b="1" dirty="0" err="1"/>
              <a:t>toArray</a:t>
            </a:r>
            <a:r>
              <a:rPr lang="en-IN" sz="2000" b="1" dirty="0"/>
              <a:t>() </a:t>
            </a:r>
            <a:r>
              <a:rPr lang="en-IN" sz="2000" dirty="0"/>
              <a:t>- Returns an array containing all of the elements in this collection.</a:t>
            </a:r>
          </a:p>
          <a:p>
            <a:r>
              <a:rPr lang="en-IN" sz="2000" b="1" dirty="0"/>
              <a:t>&lt;T&gt; T[] </a:t>
            </a:r>
            <a:r>
              <a:rPr lang="en-IN" sz="2000" b="1" dirty="0" err="1"/>
              <a:t>toArray</a:t>
            </a:r>
            <a:r>
              <a:rPr lang="en-IN" sz="2000" b="1" dirty="0"/>
              <a:t>(T[] a)</a:t>
            </a:r>
            <a:r>
              <a:rPr lang="en-IN" sz="2000" dirty="0"/>
              <a:t> - Returns an array containing all of the elements in this collection; the runtime type of the returned array is that of the specified array.</a:t>
            </a:r>
          </a:p>
        </p:txBody>
      </p:sp>
    </p:spTree>
    <p:extLst>
      <p:ext uri="{BB962C8B-B14F-4D97-AF65-F5344CB8AC3E}">
        <p14:creationId xmlns:p14="http://schemas.microsoft.com/office/powerpoint/2010/main" val="37540318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46F733-C7B2-4C62-A15E-975A52A1C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List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9B7558-69A4-470A-B8EB-09878760BA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7726"/>
            <a:ext cx="10515600" cy="5934074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List Interface is </a:t>
            </a:r>
            <a:r>
              <a:rPr lang="en-IN" b="1" dirty="0"/>
              <a:t>one of the child interface of collection interface</a:t>
            </a:r>
            <a:r>
              <a:rPr lang="en-IN" dirty="0"/>
              <a:t>.</a:t>
            </a:r>
          </a:p>
          <a:p>
            <a:r>
              <a:rPr lang="en-IN" dirty="0"/>
              <a:t>It is used to represent </a:t>
            </a:r>
            <a:r>
              <a:rPr lang="en-IN" b="1" dirty="0"/>
              <a:t>group of objects as a single object</a:t>
            </a:r>
            <a:r>
              <a:rPr lang="en-IN" dirty="0"/>
              <a:t>.</a:t>
            </a:r>
          </a:p>
          <a:p>
            <a:r>
              <a:rPr lang="en-IN" dirty="0"/>
              <a:t>Available in </a:t>
            </a:r>
            <a:r>
              <a:rPr lang="en-IN" b="1" dirty="0" err="1"/>
              <a:t>java.util</a:t>
            </a:r>
            <a:r>
              <a:rPr lang="en-IN" b="1" dirty="0"/>
              <a:t> package</a:t>
            </a:r>
          </a:p>
          <a:p>
            <a:r>
              <a:rPr lang="en-IN" dirty="0"/>
              <a:t>List in Java provides the </a:t>
            </a:r>
            <a:r>
              <a:rPr lang="en-IN" b="1" dirty="0"/>
              <a:t>facility to maintain the ordered collection</a:t>
            </a:r>
            <a:r>
              <a:rPr lang="en-IN" dirty="0"/>
              <a:t>.</a:t>
            </a:r>
          </a:p>
          <a:p>
            <a:r>
              <a:rPr lang="en-IN" dirty="0"/>
              <a:t>It </a:t>
            </a:r>
            <a:r>
              <a:rPr lang="en-IN" b="1" dirty="0"/>
              <a:t>contains the index-based methods </a:t>
            </a:r>
            <a:r>
              <a:rPr lang="en-IN" dirty="0"/>
              <a:t>to </a:t>
            </a:r>
            <a:r>
              <a:rPr lang="en-IN" b="1" dirty="0"/>
              <a:t>insert, update, delete and search </a:t>
            </a:r>
            <a:r>
              <a:rPr lang="en-IN" dirty="0"/>
              <a:t>the elements.</a:t>
            </a:r>
          </a:p>
          <a:p>
            <a:r>
              <a:rPr lang="en-IN" dirty="0"/>
              <a:t>It </a:t>
            </a:r>
            <a:r>
              <a:rPr lang="en-IN" b="1" dirty="0"/>
              <a:t>can have </a:t>
            </a:r>
            <a:r>
              <a:rPr lang="en-IN" dirty="0"/>
              <a:t>the </a:t>
            </a:r>
            <a:r>
              <a:rPr lang="en-IN" b="1" dirty="0"/>
              <a:t>duplicate elements </a:t>
            </a:r>
            <a:r>
              <a:rPr lang="en-IN" dirty="0"/>
              <a:t>also.</a:t>
            </a:r>
          </a:p>
          <a:p>
            <a:r>
              <a:rPr lang="en-IN" dirty="0"/>
              <a:t>We </a:t>
            </a:r>
            <a:r>
              <a:rPr lang="en-IN" b="1" dirty="0"/>
              <a:t>can</a:t>
            </a:r>
            <a:r>
              <a:rPr lang="en-IN" dirty="0"/>
              <a:t> also </a:t>
            </a:r>
            <a:r>
              <a:rPr lang="en-IN" b="1" dirty="0"/>
              <a:t>store the null elements </a:t>
            </a:r>
            <a:r>
              <a:rPr lang="en-IN" dirty="0"/>
              <a:t>in the list.</a:t>
            </a:r>
          </a:p>
          <a:p>
            <a:r>
              <a:rPr lang="en-IN" dirty="0"/>
              <a:t>Through the </a:t>
            </a:r>
            <a:r>
              <a:rPr lang="en-IN" dirty="0" err="1"/>
              <a:t>ListIterator</a:t>
            </a:r>
            <a:r>
              <a:rPr lang="en-IN" dirty="0"/>
              <a:t>, we can </a:t>
            </a:r>
            <a:r>
              <a:rPr lang="en-IN" b="1" dirty="0"/>
              <a:t>iterate the list in forward and backward directions</a:t>
            </a:r>
            <a:r>
              <a:rPr lang="en-IN" dirty="0"/>
              <a:t>.</a:t>
            </a:r>
          </a:p>
          <a:p>
            <a:r>
              <a:rPr lang="en-IN" b="1" dirty="0"/>
              <a:t>Index is </a:t>
            </a:r>
            <a:r>
              <a:rPr lang="en-IN" dirty="0"/>
              <a:t>very </a:t>
            </a:r>
            <a:r>
              <a:rPr lang="en-IN" b="1" dirty="0"/>
              <a:t>important</a:t>
            </a:r>
            <a:r>
              <a:rPr lang="en-IN" dirty="0"/>
              <a:t> in list.</a:t>
            </a:r>
          </a:p>
          <a:p>
            <a:r>
              <a:rPr lang="en-IN" b="1" dirty="0"/>
              <a:t>Insertion order </a:t>
            </a:r>
            <a:r>
              <a:rPr lang="en-IN" dirty="0"/>
              <a:t>is </a:t>
            </a:r>
            <a:r>
              <a:rPr lang="en-IN" b="1" dirty="0"/>
              <a:t>preserved</a:t>
            </a:r>
            <a:r>
              <a:rPr lang="en-IN" dirty="0"/>
              <a:t> </a:t>
            </a:r>
            <a:r>
              <a:rPr lang="en-IN" b="1" dirty="0"/>
              <a:t>via index</a:t>
            </a:r>
            <a:r>
              <a:rPr lang="en-IN" dirty="0"/>
              <a:t>.</a:t>
            </a:r>
          </a:p>
          <a:p>
            <a:r>
              <a:rPr lang="en-IN" dirty="0"/>
              <a:t>We can </a:t>
            </a:r>
            <a:r>
              <a:rPr lang="en-IN" b="1" dirty="0"/>
              <a:t>differentiate duplicate objects through index</a:t>
            </a:r>
            <a:r>
              <a:rPr lang="en-IN" dirty="0"/>
              <a:t>.</a:t>
            </a:r>
          </a:p>
          <a:p>
            <a:r>
              <a:rPr lang="en-IN" b="1" dirty="0"/>
              <a:t>Operations</a:t>
            </a:r>
            <a:r>
              <a:rPr lang="en-IN" dirty="0"/>
              <a:t> available are – </a:t>
            </a:r>
            <a:r>
              <a:rPr lang="en-IN" b="1" dirty="0"/>
              <a:t>Insert, Update, Delete, Positional access, Search, Iteration, Range view.</a:t>
            </a:r>
          </a:p>
        </p:txBody>
      </p:sp>
    </p:spTree>
    <p:extLst>
      <p:ext uri="{BB962C8B-B14F-4D97-AF65-F5344CB8AC3E}">
        <p14:creationId xmlns:p14="http://schemas.microsoft.com/office/powerpoint/2010/main" val="16633277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FFBC57-D75A-43BB-939A-D6E7FCBE7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4419" y="431515"/>
            <a:ext cx="10515600" cy="681037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Classes In List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CA1E16-C156-4A15-9BB2-6BF5CED86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5213" y="2976566"/>
            <a:ext cx="10763488" cy="3179850"/>
          </a:xfrm>
        </p:spPr>
        <p:txBody>
          <a:bodyPr>
            <a:normAutofit/>
          </a:bodyPr>
          <a:lstStyle/>
          <a:p>
            <a:r>
              <a:rPr lang="en-IN" dirty="0"/>
              <a:t>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1D2BB2BC-3452-4F96-8CA5-545912F30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19" y="2085653"/>
            <a:ext cx="11430000" cy="36986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00347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86D1F0-0690-477C-84BB-DAB387A0C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 err="1"/>
              <a:t>ArrayList</a:t>
            </a:r>
            <a:r>
              <a:rPr lang="en-IN" dirty="0"/>
              <a:t> -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9F22ED-D62A-4D96-9A69-249170A012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62725" cy="4351338"/>
          </a:xfrm>
        </p:spPr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ArrayList</a:t>
            </a:r>
            <a:r>
              <a:rPr lang="en-IN" dirty="0"/>
              <a:t> class of the Java collections framework provides the functionality of resizable-arrays.</a:t>
            </a:r>
          </a:p>
          <a:p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3CF81DA-8FB2-4A06-BB47-3A0FB50DFB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70048" y="1320800"/>
            <a:ext cx="28908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19635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BD6CF-A4D2-46E2-BA35-AAC320551C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03086"/>
            <a:ext cx="10515600" cy="652731"/>
          </a:xfrm>
        </p:spPr>
        <p:txBody>
          <a:bodyPr>
            <a:normAutofit fontScale="90000"/>
          </a:bodyPr>
          <a:lstStyle/>
          <a:p>
            <a:r>
              <a:rPr lang="en-IN" b="1" dirty="0"/>
              <a:t>LinkedList</a:t>
            </a:r>
            <a:br>
              <a:rPr lang="en-IN" dirty="0"/>
            </a:br>
            <a:endParaRPr lang="en-IN" dirty="0"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B49E0C5A-262B-4066-A379-E4EACC11E9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3787" y="1033676"/>
            <a:ext cx="10924426" cy="1073007"/>
          </a:xfrm>
        </p:spPr>
        <p:txBody>
          <a:bodyPr/>
          <a:lstStyle/>
          <a:p>
            <a:r>
              <a:rPr lang="en-IN" sz="2800" dirty="0"/>
              <a:t>The LinkedList class of the Java collections framework provides the functionality of the linked list data structure (doubly </a:t>
            </a:r>
            <a:r>
              <a:rPr lang="en-IN" sz="2800" dirty="0" err="1"/>
              <a:t>linkedlist</a:t>
            </a:r>
            <a:r>
              <a:rPr lang="en-IN" sz="2800" dirty="0"/>
              <a:t>).</a:t>
            </a:r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0F7ACFA-35B2-4698-8993-36BA0DF713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7784" y="2106683"/>
            <a:ext cx="7236431" cy="3743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92124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034212-23F7-4511-B151-8B04E0431F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Stack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C219EB-EE76-4D73-8507-D99A1FDB73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744128" cy="4351338"/>
          </a:xfrm>
        </p:spPr>
        <p:txBody>
          <a:bodyPr/>
          <a:lstStyle/>
          <a:p>
            <a:r>
              <a:rPr lang="en-IN" dirty="0"/>
              <a:t>In stack, elements are stored and accessed in Last In First Out manner.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88F7594-155E-4016-BB02-87903BD4AC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15250" y="912812"/>
            <a:ext cx="4205496" cy="5032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5341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97B76F-D79C-474D-A41B-65ED04EAD6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Vector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53F3E-5B15-47D7-81B4-0E952F184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Vector class is an implementation of the List interface that allows us to create resizable-arrays similar to the </a:t>
            </a:r>
            <a:r>
              <a:rPr lang="en-IN" dirty="0" err="1"/>
              <a:t>ArrayList</a:t>
            </a:r>
            <a:r>
              <a:rPr lang="en-IN" dirty="0"/>
              <a:t> class.</a:t>
            </a:r>
          </a:p>
        </p:txBody>
      </p:sp>
    </p:spTree>
    <p:extLst>
      <p:ext uri="{BB962C8B-B14F-4D97-AF65-F5344CB8AC3E}">
        <p14:creationId xmlns:p14="http://schemas.microsoft.com/office/powerpoint/2010/main" val="113747069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12829-2C38-4BFD-A2E3-C16FAF4440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901700"/>
          </a:xfrm>
        </p:spPr>
        <p:txBody>
          <a:bodyPr/>
          <a:lstStyle/>
          <a:p>
            <a:r>
              <a:rPr lang="en-IN" b="1" dirty="0"/>
              <a:t>Basic Method Of List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83CD92-BAC2-4FA4-8F5C-23339F6428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901700"/>
            <a:ext cx="10515600" cy="5275264"/>
          </a:xfrm>
        </p:spPr>
        <p:txBody>
          <a:bodyPr>
            <a:normAutofit fontScale="92500" lnSpcReduction="20000"/>
          </a:bodyPr>
          <a:lstStyle/>
          <a:p>
            <a:r>
              <a:rPr lang="en-IN" b="1" dirty="0"/>
              <a:t>void add(int index, Object o) </a:t>
            </a:r>
            <a:r>
              <a:rPr lang="en-IN" dirty="0"/>
              <a:t>- adds an element</a:t>
            </a:r>
          </a:p>
          <a:p>
            <a:r>
              <a:rPr lang="en-IN" b="1" dirty="0"/>
              <a:t>Boolean </a:t>
            </a:r>
            <a:r>
              <a:rPr lang="en-IN" b="1" dirty="0" err="1"/>
              <a:t>addAll</a:t>
            </a:r>
            <a:r>
              <a:rPr lang="en-IN" b="1" dirty="0"/>
              <a:t>(int index, Collection) </a:t>
            </a:r>
            <a:r>
              <a:rPr lang="en-IN" dirty="0"/>
              <a:t>– adds a group of elements</a:t>
            </a:r>
          </a:p>
          <a:p>
            <a:r>
              <a:rPr lang="en-IN" b="1" dirty="0"/>
              <a:t>object get(int index)</a:t>
            </a:r>
            <a:r>
              <a:rPr lang="en-IN" dirty="0"/>
              <a:t> – returns object at index</a:t>
            </a:r>
          </a:p>
          <a:p>
            <a:r>
              <a:rPr lang="en-IN" b="1" dirty="0"/>
              <a:t>object remove(int index)- </a:t>
            </a:r>
            <a:r>
              <a:rPr lang="en-IN" dirty="0"/>
              <a:t>removes the object at the index</a:t>
            </a:r>
          </a:p>
          <a:p>
            <a:r>
              <a:rPr lang="en-IN" b="1" dirty="0"/>
              <a:t>Object </a:t>
            </a:r>
            <a:r>
              <a:rPr lang="en-IN" b="1" dirty="0" err="1"/>
              <a:t>removeAll</a:t>
            </a:r>
            <a:r>
              <a:rPr lang="en-IN" b="1" dirty="0"/>
              <a:t>()</a:t>
            </a:r>
            <a:r>
              <a:rPr lang="en-IN" dirty="0"/>
              <a:t>- removes all the element form the list</a:t>
            </a:r>
          </a:p>
          <a:p>
            <a:r>
              <a:rPr lang="en-IN" b="1" dirty="0"/>
              <a:t>clear()- </a:t>
            </a:r>
            <a:r>
              <a:rPr lang="en-IN" dirty="0"/>
              <a:t>removes all the element from the list(more efficient than </a:t>
            </a:r>
            <a:r>
              <a:rPr lang="en-IN" dirty="0" err="1"/>
              <a:t>removeAll</a:t>
            </a:r>
            <a:r>
              <a:rPr lang="en-IN" dirty="0"/>
              <a:t>)</a:t>
            </a:r>
          </a:p>
          <a:p>
            <a:r>
              <a:rPr lang="en-IN" b="1" dirty="0"/>
              <a:t>Size()- </a:t>
            </a:r>
            <a:r>
              <a:rPr lang="en-IN" dirty="0"/>
              <a:t>returns the length of list</a:t>
            </a:r>
          </a:p>
          <a:p>
            <a:r>
              <a:rPr lang="en-IN" b="1" dirty="0"/>
              <a:t>object set(int index, object new) </a:t>
            </a:r>
            <a:r>
              <a:rPr lang="en-IN" dirty="0"/>
              <a:t>– replaces old object with new object at the specified index</a:t>
            </a:r>
          </a:p>
          <a:p>
            <a:r>
              <a:rPr lang="en-IN" b="1" dirty="0"/>
              <a:t>int </a:t>
            </a:r>
            <a:r>
              <a:rPr lang="en-IN" b="1" dirty="0" err="1"/>
              <a:t>indexOf</a:t>
            </a:r>
            <a:r>
              <a:rPr lang="en-IN" b="1" dirty="0"/>
              <a:t>(Object </a:t>
            </a:r>
            <a:r>
              <a:rPr lang="en-IN" b="1" dirty="0" err="1"/>
              <a:t>obj</a:t>
            </a:r>
            <a:r>
              <a:rPr lang="en-IN" b="1" dirty="0"/>
              <a:t>)- </a:t>
            </a:r>
            <a:r>
              <a:rPr lang="en-IN" dirty="0"/>
              <a:t>returns index of first occurrence of </a:t>
            </a:r>
            <a:r>
              <a:rPr lang="en-IN" dirty="0" err="1"/>
              <a:t>obj</a:t>
            </a:r>
            <a:endParaRPr lang="en-IN" dirty="0"/>
          </a:p>
          <a:p>
            <a:r>
              <a:rPr lang="en-IN" b="1" dirty="0" err="1"/>
              <a:t>toArray</a:t>
            </a:r>
            <a:r>
              <a:rPr lang="en-IN" b="1" dirty="0"/>
              <a:t>() – </a:t>
            </a:r>
            <a:r>
              <a:rPr lang="en-IN" dirty="0"/>
              <a:t>converts a list into array</a:t>
            </a:r>
          </a:p>
          <a:p>
            <a:r>
              <a:rPr lang="en-IN" b="1" dirty="0"/>
              <a:t>contains()-</a:t>
            </a:r>
            <a:r>
              <a:rPr lang="en-IN" dirty="0"/>
              <a:t> returns true if a list contains specified value</a:t>
            </a:r>
          </a:p>
        </p:txBody>
      </p:sp>
    </p:spTree>
    <p:extLst>
      <p:ext uri="{BB962C8B-B14F-4D97-AF65-F5344CB8AC3E}">
        <p14:creationId xmlns:p14="http://schemas.microsoft.com/office/powerpoint/2010/main" val="38658361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D30060-26F3-4B71-AF0D-A2FF8EAC8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275" y="384176"/>
            <a:ext cx="10515600" cy="549274"/>
          </a:xfrm>
        </p:spPr>
        <p:txBody>
          <a:bodyPr>
            <a:normAutofit/>
          </a:bodyPr>
          <a:lstStyle/>
          <a:p>
            <a:r>
              <a:rPr lang="en-IN" sz="2800" b="1" dirty="0"/>
              <a:t>Methods continued…. 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969FB2-D2F7-45AE-8325-8BC8A332C62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1025" y="1827126"/>
            <a:ext cx="11355021" cy="406265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sort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sorts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using a merge sort algorithm, which provides a fast, stable sort.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000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             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(A </a:t>
            </a:r>
            <a:r>
              <a:rPr kumimoji="0" lang="en-US" altLang="en-US" sz="20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stable sort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is one that does not reorder equal elements.)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shuffle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randomly permutes the elements in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reverse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reverses the order of the elements in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rotate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rotates all the elements in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by a specified distance.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swap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swaps the elements at specified positions in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replaceAll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replaces all occurrences of one specified value with another.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fill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overwrites every element in a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with the specified value.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copy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copies the source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into the destination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binarySearch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searches for an element in an ordered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using the binary search algorithm.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indexOfSubList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returns the index of the first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one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that is equal to another.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lastIndexOfSubList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— returns the index of the last </a:t>
            </a:r>
            <a:r>
              <a:rPr kumimoji="0" lang="en-US" altLang="en-US" sz="20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sublist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 of one 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Monaco"/>
                <a:cs typeface="Arial" panose="020B0604020202020204" pitchFamily="34" charset="0"/>
              </a:rPr>
              <a:t>List</a:t>
            </a: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 that is equal to another.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12948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FE5F98-CFE0-478B-860C-7226C8C6B9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33425" y="2870200"/>
            <a:ext cx="10515600" cy="1325563"/>
          </a:xfrm>
        </p:spPr>
        <p:txBody>
          <a:bodyPr/>
          <a:lstStyle/>
          <a:p>
            <a:pPr algn="ctr"/>
            <a:r>
              <a:rPr lang="en-IN" dirty="0"/>
              <a:t>Thank You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91911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264</TotalTime>
  <Words>1000</Words>
  <Application>Microsoft Office PowerPoint</Application>
  <PresentationFormat>Widescreen</PresentationFormat>
  <Paragraphs>77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Calibri</vt:lpstr>
      <vt:lpstr>Calibri Light</vt:lpstr>
      <vt:lpstr>Monaco</vt:lpstr>
      <vt:lpstr>Office Theme</vt:lpstr>
      <vt:lpstr>Topic</vt:lpstr>
      <vt:lpstr>Collection Interface</vt:lpstr>
      <vt:lpstr>Collection Interface and Its Sub Interface(Hierarchy)</vt:lpstr>
      <vt:lpstr>Methods Of Collection Interface</vt:lpstr>
      <vt:lpstr>PowerPoint Presentation</vt:lpstr>
      <vt:lpstr>List Interface</vt:lpstr>
      <vt:lpstr>Classes In List</vt:lpstr>
      <vt:lpstr>ArrayList -</vt:lpstr>
      <vt:lpstr>LinkedList </vt:lpstr>
      <vt:lpstr>Stack</vt:lpstr>
      <vt:lpstr>Vector</vt:lpstr>
      <vt:lpstr>Basic Method Of List Interface</vt:lpstr>
      <vt:lpstr>Methods continued…. </vt:lpstr>
      <vt:lpstr>Thank You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Collection Framework In Java</dc:title>
  <dc:creator>Tiwari, Anupam</dc:creator>
  <cp:lastModifiedBy>Tiwari, Anupam</cp:lastModifiedBy>
  <cp:revision>24</cp:revision>
  <dcterms:created xsi:type="dcterms:W3CDTF">2022-04-15T13:51:56Z</dcterms:created>
  <dcterms:modified xsi:type="dcterms:W3CDTF">2022-04-15T18:16:31Z</dcterms:modified>
</cp:coreProperties>
</file>